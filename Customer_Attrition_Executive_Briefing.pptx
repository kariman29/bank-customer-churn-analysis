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AA864-CF1E-9647-9FA5-F2210E60F686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81D07-2A9D-5449-836D-E1B0FBF8F4E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72196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81D07-2A9D-5449-836D-E1B0FBF8F4E4}" type="slidenum">
              <a:rPr lang="en-EG" smtClean="0"/>
              <a:t>1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81027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71800"/>
            <a:ext cx="3200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05429"/>
            <a:ext cx="109728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 dirty="0">
                <a:solidFill>
                  <a:srgbClr val="C9A227"/>
                </a:solidFill>
                <a:latin typeface="Calibri"/>
              </a:rPr>
              <a:t>Kariman Ibrahem</a:t>
            </a:r>
            <a:endParaRPr lang="ar-SA" sz="1400" b="1" dirty="0">
              <a:solidFill>
                <a:srgbClr val="C9A227"/>
              </a:solidFill>
              <a:latin typeface="Calibri"/>
            </a:endParaRPr>
          </a:p>
          <a:p>
            <a:pPr algn="l"/>
            <a:endParaRPr lang="ar-SA" sz="1400" b="1" dirty="0">
              <a:solidFill>
                <a:srgbClr val="C9A227"/>
              </a:solidFill>
              <a:latin typeface="Calibri"/>
            </a:endParaRPr>
          </a:p>
          <a:p>
            <a:pPr algn="l"/>
            <a:r>
              <a:rPr sz="1400" b="1" dirty="0">
                <a:solidFill>
                  <a:srgbClr val="C9A227"/>
                </a:solidFill>
                <a:latin typeface="Calibri"/>
              </a:rPr>
              <a:t>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Customer Attrition: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Why We're Losing Customers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and Where to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F2F4F7"/>
                </a:solidFill>
                <a:latin typeface="Calibri"/>
              </a:rPr>
              <a:t>A business lens on 10,127 customer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Calibri"/>
              </a:rPr>
              <a:t>Prepared for executive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1 in 6 customers walked out the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A6B7B"/>
                </a:solidFill>
                <a:latin typeface="Calibri"/>
              </a:rPr>
              <a:t>A look at who left, what they took with them, and what we can do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6517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0B1F3A"/>
                </a:solidFill>
                <a:latin typeface="Calibri"/>
              </a:rPr>
              <a:t>10,127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Customers reviewed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286000"/>
            <a:ext cx="26517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514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  <a:latin typeface="Calibri"/>
              </a:rPr>
              <a:t>1,627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546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Customers lost in the period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86000"/>
            <a:ext cx="26517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  <a:latin typeface="Calibri"/>
              </a:rPr>
              <a:t>16.1%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546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Overall attrition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2286000"/>
            <a:ext cx="265176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25146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0B1F3A"/>
                </a:solidFill>
                <a:latin typeface="Calibri"/>
              </a:rPr>
              <a:t>$13.2M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1546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Credit lines that walked with them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WHAT THE DATA IS TELLING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• $5.0M of annual card spend now sits with a competitor (11% of our total).</a:t>
            </a:r>
          </a:p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• Customers on a single product churned 2.5x more than multi-product customers.</a:t>
            </a:r>
          </a:p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• Platinum cardholders churned at 25%, our highest-tier — and highest risk — segment.</a:t>
            </a:r>
          </a:p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• Four months of silence is the tipping point: churn nearly doubles after month 3.</a:t>
            </a:r>
          </a:p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• Three focused plays can meaningfully bend the curve — detailed on slide 12.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CHURN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8 of 10 customers stay — but we're still losing a small city every year</a:t>
            </a:r>
          </a:p>
        </p:txBody>
      </p:sp>
      <p:pic>
        <p:nvPicPr>
          <p:cNvPr id="6" name="Picture 5" descr="char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669280" cy="3307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1031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3035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Imagine a mid-sized branch filling up every year with customers ready to close their accounts. That's what 16% attrition looks like at our scale — 1,627 customers and roughly $13 million in credit lines walking away.</a:t>
            </a:r>
          </a:p>
          <a:p>
            <a:pPr algn="l"/>
            <a:endParaRPr sz="1500" b="0">
              <a:solidFill>
                <a:srgbClr val="112233"/>
              </a:solidFill>
              <a:latin typeface="Calibri"/>
            </a:endParaRPr>
          </a:p>
          <a:p>
            <a:pPr algn="l"/>
            <a:r>
              <a:rPr sz="1500" b="0">
                <a:solidFill>
                  <a:srgbClr val="112233"/>
                </a:solidFill>
                <a:latin typeface="Calibri"/>
              </a:rPr>
              <a:t>The good news: most customers are still with us. The opportunity: the reasons they leave are visible in the data, and many are within our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We don't have a mass-churn problem. We have a pattern problem — and patterns are fixable.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WHO LEAVES: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Younger customers leave the most; we earn loyalty as they grow with us</a:t>
            </a:r>
          </a:p>
        </p:txBody>
      </p:sp>
      <p:pic>
        <p:nvPicPr>
          <p:cNvPr id="6" name="Picture 5" descr="char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4107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40233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Under 35: churn runs highest — these customers are still shopping around.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55-64: our stickiest working-age group.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65+: churn drops to about 10% — long-tenured customers rarely leave.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Early-life customers are a retention priority. Every year they stay, they stay longer.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THE PREMIUM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Our highest-tier customers churn the most</a:t>
            </a:r>
          </a:p>
        </p:txBody>
      </p:sp>
      <p:pic>
        <p:nvPicPr>
          <p:cNvPr id="6" name="Picture 5" descr="chart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4107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BY CARD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12233"/>
                </a:solidFill>
                <a:latin typeface="Calibri"/>
              </a:rPr>
              <a:t>Platinum:  25.0% churn</a:t>
            </a:r>
          </a:p>
          <a:p>
            <a:pPr algn="l"/>
            <a:r>
              <a:rPr sz="1600" b="0">
                <a:solidFill>
                  <a:srgbClr val="112233"/>
                </a:solidFill>
                <a:latin typeface="Calibri"/>
              </a:rPr>
              <a:t>Gold:      18.1% churn</a:t>
            </a:r>
          </a:p>
          <a:p>
            <a:pPr algn="l"/>
            <a:r>
              <a:rPr sz="1600" b="0">
                <a:solidFill>
                  <a:srgbClr val="112233"/>
                </a:solidFill>
                <a:latin typeface="Calibri"/>
              </a:rPr>
              <a:t>Blue:      16.1% churn</a:t>
            </a:r>
          </a:p>
          <a:p>
            <a:pPr algn="l"/>
            <a:r>
              <a:rPr sz="1600" b="0">
                <a:solidFill>
                  <a:srgbClr val="112233"/>
                </a:solidFill>
                <a:latin typeface="Calibri"/>
              </a:rPr>
              <a:t>Silver:    14.8%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93192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A quarter of Platinum customers — the ones we invest the most in — are walking. The premium experience isn't delivering premium.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Platinum isn't a loyalty segment today — it's a flight-risk segment.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PRODUCT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The more we serve them, the more they stay</a:t>
            </a:r>
          </a:p>
        </p:txBody>
      </p:sp>
      <p:pic>
        <p:nvPicPr>
          <p:cNvPr id="6" name="Picture 5" descr="char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4107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BY NUMBER OF PRODUCTS HELD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4023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 product:  26%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 products: 28%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 products: 17%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 products: 12%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5 products: 12%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6 products: 11% churn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Cross-sell is not just a revenue play. Adding a second product cuts churn nearly in half.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SPENDING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The quiet middle is where we bleed</a:t>
            </a:r>
          </a:p>
        </p:txBody>
      </p:sp>
      <p:pic>
        <p:nvPicPr>
          <p:cNvPr id="6" name="Picture 5" descr="char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669280" cy="3307080"/>
          </a:xfrm>
          <a:prstGeom prst="rect">
            <a:avLst/>
          </a:prstGeom>
        </p:spPr>
      </p:pic>
      <p:pic>
        <p:nvPicPr>
          <p:cNvPr id="7" name="Picture 6" descr="chart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669280" cy="3307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Customers in the mid transaction band churn the most. Low spend is a warning light, not a comfort.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THE EARLIEST WARNING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4 months of silence is the tipping point</a:t>
            </a:r>
          </a:p>
        </p:txBody>
      </p:sp>
      <p:pic>
        <p:nvPicPr>
          <p:cNvPr id="6" name="Picture 5" descr="char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4107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INACTIVITY VS.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4023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 month quiet: 4.5%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 months quiet: 15%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 months quiet: 22%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 months quiet: 30%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5 months quiet: 18% churn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6 months quiet: 15%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66344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Once a customer goes 4 months without using their card, the odds of losing them nearly double.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An automatic check-in at the 3-month quiet mark is the single easiest retention lever we have.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INCOME ISN'T THE DRIVER — ENGAGEMENT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Churn is similar across income bands; how we serve matters more than paycheck</a:t>
            </a:r>
          </a:p>
        </p:txBody>
      </p:sp>
      <p:pic>
        <p:nvPicPr>
          <p:cNvPr id="6" name="Picture 5" descr="char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4107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2011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A6B7B"/>
                </a:solidFill>
                <a:latin typeface="Calibri"/>
              </a:rPr>
              <a:t>CHURN BY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4023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Less than $40K: 17.2%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$40K - $60K:    15.1%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$60K - $80K:    13.5%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$80K - $120K:   15.8%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$120K +:        17.3%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Don't build retention around income tiers. Build it around product depth and engagement signals.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WHAT WALKS WITH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Every lost customer takes an $8,136 credit line on average</a:t>
            </a:r>
          </a:p>
        </p:txBody>
      </p:sp>
      <p:pic>
        <p:nvPicPr>
          <p:cNvPr id="6" name="Picture 5" descr="char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040880" cy="41071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2011680"/>
            <a:ext cx="40233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22402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0B1F3A"/>
                </a:solidFill>
                <a:latin typeface="Calibri"/>
              </a:rPr>
              <a:t>$8,136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Avg credit line per lost 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474720"/>
            <a:ext cx="40233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370332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C0392B"/>
                </a:solidFill>
                <a:latin typeface="Calibri"/>
              </a:rPr>
              <a:t>$13.2M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1605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Total credit exposure lost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937760"/>
            <a:ext cx="4023360" cy="822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51663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400" b="1">
                <a:solidFill>
                  <a:srgbClr val="0B1F3A"/>
                </a:solidFill>
                <a:latin typeface="Calibri"/>
              </a:rPr>
              <a:t>$1.1M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0749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5A6B7B"/>
                </a:solidFill>
                <a:latin typeface="Calibri"/>
              </a:rPr>
              <a:t>Revolving balance lost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064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8795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Retention isn't only a CX metric. It's a balance-sheet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MEET THE LEAVERS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Three customer stories that show up in the data again and again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749039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749039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3291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THE ONE-PRODUCT SHOPPER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3291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2233"/>
                </a:solidFill>
                <a:latin typeface="Calibri"/>
              </a:rPr>
              <a:t>"I only have my card here."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29183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Holds a single product. Uses it rarely. Compares offers online.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Churn: ~26%. A second product (savings, loan, auto-pay) cuts it nearly in half.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3749039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920240"/>
            <a:ext cx="3749039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1993392"/>
            <a:ext cx="3291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THE QUIET PLATINUM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51760"/>
            <a:ext cx="3291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2233"/>
                </a:solidFill>
                <a:latin typeface="Calibri"/>
              </a:rPr>
              <a:t>"I thought premium would feel premium."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931920"/>
            <a:ext cx="329183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Platinum card, expects VIP treatment, sees little differentiation.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Churn: 25%. Highest of any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8" y="1920240"/>
            <a:ext cx="3749039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78" y="1920240"/>
            <a:ext cx="3749039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78" y="1993392"/>
            <a:ext cx="32918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Calibri"/>
              </a:rPr>
              <a:t>THE FADING REGULAR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78" y="2651760"/>
            <a:ext cx="3291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12233"/>
                </a:solidFill>
                <a:latin typeface="Calibri"/>
              </a:rPr>
              <a:t>"Life got busy, I just stopped using it."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78" y="3931920"/>
            <a:ext cx="329183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Used to spend regularly, then goes quiet for 3-4 months.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Churn jumps from 15% to 30% as inactivity crosses 4 months.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03504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10819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Real people, not data points. Each persona maps to a play on the next slide.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THREE PLAYS WE CAN RUN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Practical, low-cost, and aimed at the patterns we just saw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749039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28600" cy="4206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320039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32003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Premium Revival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320039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2233"/>
                </a:solidFill>
                <a:latin typeface="Calibri"/>
              </a:rPr>
              <a:t>A 90-day outreach to every Platinum customer: dedicated advisor, fee review, and a small 'thank you' benefit they actually notice.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32003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Target: move Platinum churn from 25% to 15%.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920240"/>
            <a:ext cx="3749039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1920240"/>
            <a:ext cx="228600" cy="4206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39" y="2103120"/>
            <a:ext cx="320039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2834640"/>
            <a:ext cx="32003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One to 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39" y="3566160"/>
            <a:ext cx="320039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2233"/>
                </a:solidFill>
                <a:latin typeface="Calibri"/>
              </a:rPr>
              <a:t>Contact single-product customers with a tailored second-product offer (savings, auto-pay, or rewards). Focus on digital-first channels for under-35s.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39" y="5394960"/>
            <a:ext cx="32003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Target: cut single-product churn in half, matching multi-product levels.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78" y="1920240"/>
            <a:ext cx="3749039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78" y="1920240"/>
            <a:ext cx="228600" cy="4206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58" y="2103120"/>
            <a:ext cx="320039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8" y="2834640"/>
            <a:ext cx="32003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Silence Breaker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8" y="3566160"/>
            <a:ext cx="320039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12233"/>
                </a:solidFill>
                <a:latin typeface="Calibri"/>
              </a:rPr>
              <a:t>An automatic check-in when a customer has been inactive for 90 days — a personal call, a small offer, or a reminder of unused benefits.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8" y="5394960"/>
            <a:ext cx="32003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Target: reduce 4+ month inactivity churn by a third.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17920"/>
            <a:ext cx="1109441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29107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THE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3796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Three plays. Three clear targets. All executable with teams we already have.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71800"/>
            <a:ext cx="3200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Calibri"/>
              </a:rPr>
              <a:t>THE PRIZE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If we move churn from 16% to 12%...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490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~405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5A6B7B"/>
                </a:solidFill>
                <a:latin typeface="Calibri"/>
              </a:rPr>
              <a:t>customers saved per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4747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37490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~$3.3M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61772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5A6B7B"/>
                </a:solidFill>
                <a:latin typeface="Calibri"/>
              </a:rPr>
              <a:t>credit lines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4747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37490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~$1.3M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1772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5A6B7B"/>
                </a:solidFill>
                <a:latin typeface="Calibri"/>
              </a:rPr>
              <a:t>annual card spend retained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Calibri"/>
              </a:rPr>
              <a:t>Built from simple, explainable moves — not new technology, not new headcount.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Supporting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Calibri"/>
              </a:rPr>
              <a:t>Additional charts referenced in the analysis, kept here for deeper discussion.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Supporting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Attrition distribution (headcount)</a:t>
            </a:r>
          </a:p>
        </p:txBody>
      </p:sp>
      <p:pic>
        <p:nvPicPr>
          <p:cNvPr id="7" name="Picture 6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577840" cy="3253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Customer age distribution</a:t>
            </a:r>
          </a:p>
        </p:txBody>
      </p:sp>
      <p:pic>
        <p:nvPicPr>
          <p:cNvPr id="9" name="Picture 8" descr="chart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577840" cy="32537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Supporting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Credit limit distribution</a:t>
            </a:r>
          </a:p>
        </p:txBody>
      </p:sp>
      <p:pic>
        <p:nvPicPr>
          <p:cNvPr id="7" name="Picture 6" descr="char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577840" cy="3253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Income category distribution</a:t>
            </a:r>
          </a:p>
        </p:txBody>
      </p:sp>
      <p:pic>
        <p:nvPicPr>
          <p:cNvPr id="9" name="Picture 8" descr="chart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577840" cy="32537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Supporting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Transaction amount distribution</a:t>
            </a:r>
          </a:p>
        </p:txBody>
      </p:sp>
      <p:pic>
        <p:nvPicPr>
          <p:cNvPr id="7" name="Picture 6" descr="char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577840" cy="3253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Churn % vs transaction amount (detail)</a:t>
            </a:r>
          </a:p>
        </p:txBody>
      </p:sp>
      <p:pic>
        <p:nvPicPr>
          <p:cNvPr id="9" name="Picture 8" descr="chart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577840" cy="32537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12233"/>
                </a:solidFill>
                <a:latin typeface="Calibri"/>
              </a:rPr>
              <a:t>Supporting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Churn % vs marital status</a:t>
            </a:r>
          </a:p>
        </p:txBody>
      </p:sp>
      <p:pic>
        <p:nvPicPr>
          <p:cNvPr id="7" name="Picture 6" descr="chart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577840" cy="3253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Inactivity distribution (last 12 months)</a:t>
            </a:r>
          </a:p>
        </p:txBody>
      </p:sp>
      <p:pic>
        <p:nvPicPr>
          <p:cNvPr id="9" name="Picture 8" descr="chart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577840" cy="32537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Customer Attrition Executive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F2F4F7"/>
                </a:solidFill>
                <a:latin typeface="Calibri"/>
              </a:rPr>
              <a:t>Let's pick one play and run it this quarter.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137160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1253</Words>
  <Application>Microsoft Macintosh PowerPoint</Application>
  <PresentationFormat>Widescreen</PresentationFormat>
  <Paragraphs>191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Gad</cp:lastModifiedBy>
  <cp:revision>2</cp:revision>
  <dcterms:created xsi:type="dcterms:W3CDTF">2013-01-27T09:14:16Z</dcterms:created>
  <dcterms:modified xsi:type="dcterms:W3CDTF">2026-04-19T21:28:09Z</dcterms:modified>
  <cp:category/>
</cp:coreProperties>
</file>